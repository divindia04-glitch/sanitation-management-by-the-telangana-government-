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6" r:id="rId11"/>
    <p:sldId id="267" r:id="rId12"/>
  </p:sldIdLst>
  <p:sldSz cx="9144000" cy="5143500" type="screen16x9"/>
  <p:notesSz cx="6858000" cy="9144000"/>
  <p:embeddedFontLst>
    <p:embeddedFont>
      <p:font typeface="Comic Sans MS" panose="030F0702030302020204" pitchFamily="66" charset="0"/>
      <p:regular r:id="rId14"/>
      <p:bold r:id="rId15"/>
      <p:italic r:id="rId16"/>
      <p:boldItalic r:id="rId17"/>
    </p:embeddedFont>
    <p:embeddedFont>
      <p:font typeface="Georgia" panose="02040502050405020303" pitchFamily="18" charset="0"/>
      <p:regular r:id="rId18"/>
      <p:bold r:id="rId19"/>
      <p:italic r:id="rId20"/>
      <p:boldItalic r:id="rId21"/>
    </p:embeddedFont>
    <p:embeddedFont>
      <p:font typeface="Lato" panose="020F0502020204030203"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116" y="7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f55c404b3c_3_2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f55c404b3c_3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55c404b3c_3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55c404b3c_3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f55c404b3c_3_8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f55c404b3c_3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ODF - Open defecation free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f55c404b3c_3_8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f55c404b3c_3_8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f54a106aa4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f54a106aa4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f54a106aa4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f54a106aa4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f55c404b3c_3_8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f55c404b3c_3_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f54a106aa4_1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f54a106aa4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f55c404b3c_3_8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f55c404b3c_3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f55c404b3c_3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f55c404b3c_3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f563bd9a8d_3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f563bd9a8d_3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300"/>
              <a:buNone/>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lt1"/>
                </a:solidFill>
                <a:latin typeface="Lato"/>
                <a:ea typeface="Lato"/>
                <a:cs typeface="Lato"/>
                <a:sym typeface="Lato"/>
              </a:defRPr>
            </a:lvl1pPr>
            <a:lvl2pPr lvl="1" algn="r" rtl="0">
              <a:buNone/>
              <a:defRPr sz="1000">
                <a:solidFill>
                  <a:schemeClr val="lt1"/>
                </a:solidFill>
                <a:latin typeface="Lato"/>
                <a:ea typeface="Lato"/>
                <a:cs typeface="Lato"/>
                <a:sym typeface="Lato"/>
              </a:defRPr>
            </a:lvl2pPr>
            <a:lvl3pPr lvl="2" algn="r" rtl="0">
              <a:buNone/>
              <a:defRPr sz="1000">
                <a:solidFill>
                  <a:schemeClr val="lt1"/>
                </a:solidFill>
                <a:latin typeface="Lato"/>
                <a:ea typeface="Lato"/>
                <a:cs typeface="Lato"/>
                <a:sym typeface="Lato"/>
              </a:defRPr>
            </a:lvl3pPr>
            <a:lvl4pPr lvl="3" algn="r" rtl="0">
              <a:buNone/>
              <a:defRPr sz="1000">
                <a:solidFill>
                  <a:schemeClr val="lt1"/>
                </a:solidFill>
                <a:latin typeface="Lato"/>
                <a:ea typeface="Lato"/>
                <a:cs typeface="Lato"/>
                <a:sym typeface="Lato"/>
              </a:defRPr>
            </a:lvl4pPr>
            <a:lvl5pPr lvl="4" algn="r" rtl="0">
              <a:buNone/>
              <a:defRPr sz="1000">
                <a:solidFill>
                  <a:schemeClr val="lt1"/>
                </a:solidFill>
                <a:latin typeface="Lato"/>
                <a:ea typeface="Lato"/>
                <a:cs typeface="Lato"/>
                <a:sym typeface="Lato"/>
              </a:defRPr>
            </a:lvl5pPr>
            <a:lvl6pPr lvl="5" algn="r" rtl="0">
              <a:buNone/>
              <a:defRPr sz="1000">
                <a:solidFill>
                  <a:schemeClr val="lt1"/>
                </a:solidFill>
                <a:latin typeface="Lato"/>
                <a:ea typeface="Lato"/>
                <a:cs typeface="Lato"/>
                <a:sym typeface="Lato"/>
              </a:defRPr>
            </a:lvl6pPr>
            <a:lvl7pPr lvl="6" algn="r" rtl="0">
              <a:buNone/>
              <a:defRPr sz="1000">
                <a:solidFill>
                  <a:schemeClr val="lt1"/>
                </a:solidFill>
                <a:latin typeface="Lato"/>
                <a:ea typeface="Lato"/>
                <a:cs typeface="Lato"/>
                <a:sym typeface="Lato"/>
              </a:defRPr>
            </a:lvl7pPr>
            <a:lvl8pPr lvl="7" algn="r" rtl="0">
              <a:buNone/>
              <a:defRPr sz="1000">
                <a:solidFill>
                  <a:schemeClr val="lt1"/>
                </a:solidFill>
                <a:latin typeface="Lato"/>
                <a:ea typeface="Lato"/>
                <a:cs typeface="Lato"/>
                <a:sym typeface="Lato"/>
              </a:defRPr>
            </a:lvl8pPr>
            <a:lvl9pPr lvl="8" algn="r" rtl="0">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344055"/>
            </a:gs>
            <a:gs pos="100000">
              <a:srgbClr val="030304"/>
            </a:gs>
          </a:gsLst>
          <a:path path="circle">
            <a:fillToRect l="50000" t="50000" r="50000" b="50000"/>
          </a:path>
          <a:tileRect/>
        </a:gradFill>
        <a:effectLst/>
      </p:bgPr>
    </p:bg>
    <p:spTree>
      <p:nvGrpSpPr>
        <p:cNvPr id="1" name="Shape 151"/>
        <p:cNvGrpSpPr/>
        <p:nvPr/>
      </p:nvGrpSpPr>
      <p:grpSpPr>
        <a:xfrm>
          <a:off x="0" y="0"/>
          <a:ext cx="0" cy="0"/>
          <a:chOff x="0" y="0"/>
          <a:chExt cx="0" cy="0"/>
        </a:xfrm>
      </p:grpSpPr>
      <p:sp>
        <p:nvSpPr>
          <p:cNvPr id="152" name="Google Shape;152;p14"/>
          <p:cNvSpPr txBox="1"/>
          <p:nvPr/>
        </p:nvSpPr>
        <p:spPr>
          <a:xfrm>
            <a:off x="1146575" y="225050"/>
            <a:ext cx="69972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b="1">
                <a:solidFill>
                  <a:schemeClr val="lt1"/>
                </a:solidFill>
                <a:latin typeface="Times New Roman"/>
                <a:ea typeface="Times New Roman"/>
                <a:cs typeface="Times New Roman"/>
                <a:sym typeface="Times New Roman"/>
              </a:rPr>
              <a:t>PROJECT INTRODUCTION</a:t>
            </a:r>
            <a:endParaRPr sz="1800" b="1">
              <a:solidFill>
                <a:schemeClr val="lt1"/>
              </a:solidFill>
              <a:latin typeface="Times New Roman"/>
              <a:ea typeface="Times New Roman"/>
              <a:cs typeface="Times New Roman"/>
              <a:sym typeface="Times New Roman"/>
            </a:endParaRPr>
          </a:p>
        </p:txBody>
      </p:sp>
      <p:sp>
        <p:nvSpPr>
          <p:cNvPr id="153" name="Google Shape;153;p14"/>
          <p:cNvSpPr txBox="1"/>
          <p:nvPr/>
        </p:nvSpPr>
        <p:spPr>
          <a:xfrm>
            <a:off x="471425" y="625250"/>
            <a:ext cx="8347500" cy="477000"/>
          </a:xfrm>
          <a:prstGeom prst="rect">
            <a:avLst/>
          </a:prstGeom>
          <a:noFill/>
          <a:ln>
            <a:noFill/>
          </a:ln>
        </p:spPr>
        <p:txBody>
          <a:bodyPr spcFirstLastPara="1" wrap="square" lIns="91425" tIns="91425" rIns="91425" bIns="91425" anchor="t" anchorCtr="0">
            <a:spAutoFit/>
          </a:bodyPr>
          <a:lstStyle/>
          <a:p>
            <a:pPr marL="0" lvl="0" indent="0" algn="ctr" rtl="0">
              <a:lnSpc>
                <a:spcPct val="219230"/>
              </a:lnSpc>
              <a:spcBef>
                <a:spcPts val="1500"/>
              </a:spcBef>
              <a:spcAft>
                <a:spcPts val="800"/>
              </a:spcAft>
              <a:buClr>
                <a:schemeClr val="dk1"/>
              </a:buClr>
              <a:buSzPts val="1100"/>
              <a:buFont typeface="Arial"/>
              <a:buNone/>
            </a:pPr>
            <a:r>
              <a:rPr lang="en" sz="1900" b="1">
                <a:solidFill>
                  <a:schemeClr val="lt1"/>
                </a:solidFill>
                <a:latin typeface="Times New Roman"/>
                <a:ea typeface="Times New Roman"/>
                <a:cs typeface="Times New Roman"/>
                <a:sym typeface="Times New Roman"/>
              </a:rPr>
              <a:t>SDG 6 Clean Water And Sanitation</a:t>
            </a:r>
            <a:endParaRPr sz="1900" b="1">
              <a:solidFill>
                <a:schemeClr val="lt1"/>
              </a:solidFill>
              <a:latin typeface="Times New Roman"/>
              <a:ea typeface="Times New Roman"/>
              <a:cs typeface="Times New Roman"/>
              <a:sym typeface="Times New Roman"/>
            </a:endParaRPr>
          </a:p>
        </p:txBody>
      </p:sp>
      <p:sp>
        <p:nvSpPr>
          <p:cNvPr id="154" name="Google Shape;154;p14"/>
          <p:cNvSpPr txBox="1"/>
          <p:nvPr/>
        </p:nvSpPr>
        <p:spPr>
          <a:xfrm>
            <a:off x="738150" y="1281450"/>
            <a:ext cx="7852200" cy="3386400"/>
          </a:xfrm>
          <a:prstGeom prst="rect">
            <a:avLst/>
          </a:prstGeom>
          <a:noFill/>
          <a:ln>
            <a:noFill/>
          </a:ln>
        </p:spPr>
        <p:txBody>
          <a:bodyPr spcFirstLastPara="1" wrap="square" lIns="91425" tIns="91425" rIns="91425" bIns="91425" anchor="t" anchorCtr="0">
            <a:spAutoFit/>
          </a:bodyPr>
          <a:lstStyle/>
          <a:p>
            <a:pPr marL="457200" lvl="0" indent="-330200" algn="just" rtl="0">
              <a:lnSpc>
                <a:spcPct val="150000"/>
              </a:lnSpc>
              <a:spcBef>
                <a:spcPts val="0"/>
              </a:spcBef>
              <a:spcAft>
                <a:spcPts val="0"/>
              </a:spcAft>
              <a:buClr>
                <a:schemeClr val="lt1"/>
              </a:buClr>
              <a:buSzPts val="1600"/>
              <a:buFont typeface="Georgia"/>
              <a:buChar char="●"/>
            </a:pPr>
            <a:r>
              <a:rPr lang="en" sz="1600" b="1">
                <a:solidFill>
                  <a:schemeClr val="lt1"/>
                </a:solidFill>
                <a:latin typeface="Georgia"/>
                <a:ea typeface="Georgia"/>
                <a:cs typeface="Georgia"/>
                <a:sym typeface="Georgia"/>
              </a:rPr>
              <a:t>Access to safe water and sanitation are human rights. </a:t>
            </a:r>
            <a:endParaRPr sz="1600" b="1">
              <a:solidFill>
                <a:schemeClr val="lt1"/>
              </a:solidFill>
              <a:latin typeface="Georgia"/>
              <a:ea typeface="Georgia"/>
              <a:cs typeface="Georgia"/>
              <a:sym typeface="Georgia"/>
            </a:endParaRPr>
          </a:p>
          <a:p>
            <a:pPr marL="457200" lvl="0" indent="-330200" algn="just" rtl="0">
              <a:lnSpc>
                <a:spcPct val="150000"/>
              </a:lnSpc>
              <a:spcBef>
                <a:spcPts val="0"/>
              </a:spcBef>
              <a:spcAft>
                <a:spcPts val="0"/>
              </a:spcAft>
              <a:buClr>
                <a:schemeClr val="lt1"/>
              </a:buClr>
              <a:buSzPts val="1600"/>
              <a:buFont typeface="Georgia"/>
              <a:buChar char="●"/>
            </a:pPr>
            <a:r>
              <a:rPr lang="en" sz="1600" b="1">
                <a:solidFill>
                  <a:schemeClr val="lt1"/>
                </a:solidFill>
                <a:latin typeface="Georgia"/>
                <a:ea typeface="Georgia"/>
                <a:cs typeface="Georgia"/>
                <a:sym typeface="Georgia"/>
              </a:rPr>
              <a:t>A person without access to improved drinking water is forced to rely on sources such as surface water, unprotected and possibly contaminated wells, or vendors selling water of unverifiable provenance and quality.</a:t>
            </a:r>
            <a:endParaRPr sz="1600" b="1">
              <a:solidFill>
                <a:schemeClr val="lt1"/>
              </a:solidFill>
              <a:latin typeface="Georgia"/>
              <a:ea typeface="Georgia"/>
              <a:cs typeface="Georgia"/>
              <a:sym typeface="Georgia"/>
            </a:endParaRPr>
          </a:p>
          <a:p>
            <a:pPr marL="457200" lvl="0" indent="-330200" algn="just" rtl="0">
              <a:lnSpc>
                <a:spcPct val="150000"/>
              </a:lnSpc>
              <a:spcBef>
                <a:spcPts val="0"/>
              </a:spcBef>
              <a:spcAft>
                <a:spcPts val="0"/>
              </a:spcAft>
              <a:buClr>
                <a:schemeClr val="lt1"/>
              </a:buClr>
              <a:buSzPts val="1600"/>
              <a:buFont typeface="Georgia"/>
              <a:buChar char="●"/>
            </a:pPr>
            <a:r>
              <a:rPr lang="en" sz="1600" b="1">
                <a:solidFill>
                  <a:schemeClr val="lt1"/>
                </a:solidFill>
                <a:latin typeface="Georgia"/>
                <a:ea typeface="Georgia"/>
                <a:cs typeface="Georgia"/>
                <a:sym typeface="Georgia"/>
              </a:rPr>
              <a:t>Without improved sanitation people have no choice but to use inadequate community toilet or to practise open defecation.</a:t>
            </a:r>
            <a:endParaRPr sz="1600" b="1">
              <a:solidFill>
                <a:schemeClr val="lt1"/>
              </a:solidFill>
              <a:latin typeface="Georgia"/>
              <a:ea typeface="Georgia"/>
              <a:cs typeface="Georgia"/>
              <a:sym typeface="Georgia"/>
            </a:endParaRPr>
          </a:p>
          <a:p>
            <a:pPr marL="457200" lvl="0" indent="-330200" algn="just" rtl="0">
              <a:lnSpc>
                <a:spcPct val="150000"/>
              </a:lnSpc>
              <a:spcBef>
                <a:spcPts val="0"/>
              </a:spcBef>
              <a:spcAft>
                <a:spcPts val="0"/>
              </a:spcAft>
              <a:buClr>
                <a:schemeClr val="lt1"/>
              </a:buClr>
              <a:buSzPts val="1600"/>
              <a:buFont typeface="Georgia"/>
              <a:buChar char="●"/>
            </a:pPr>
            <a:r>
              <a:rPr lang="en" sz="1600" b="1">
                <a:solidFill>
                  <a:schemeClr val="lt1"/>
                </a:solidFill>
                <a:latin typeface="Georgia"/>
                <a:ea typeface="Georgia"/>
                <a:cs typeface="Georgia"/>
                <a:sym typeface="Georgia"/>
              </a:rPr>
              <a:t>Here we have tried to analyse the data for the state of Telangana to recommend for any improvement which can be made.</a:t>
            </a:r>
            <a:endParaRPr sz="2200">
              <a:solidFill>
                <a:schemeClr val="l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5"/>
          <p:cNvSpPr txBox="1">
            <a:spLocks noGrp="1"/>
          </p:cNvSpPr>
          <p:nvPr>
            <p:ph type="title"/>
          </p:nvPr>
        </p:nvSpPr>
        <p:spPr>
          <a:xfrm>
            <a:off x="311700" y="2307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2289">
                <a:latin typeface="Georgia"/>
                <a:ea typeface="Georgia"/>
                <a:cs typeface="Georgia"/>
                <a:sym typeface="Georgia"/>
              </a:rPr>
              <a:t>Methodology</a:t>
            </a:r>
            <a:endParaRPr sz="2289">
              <a:latin typeface="Georgia"/>
              <a:ea typeface="Georgia"/>
              <a:cs typeface="Georgia"/>
              <a:sym typeface="Georgia"/>
            </a:endParaRPr>
          </a:p>
          <a:p>
            <a:pPr marL="0" lvl="0" indent="0" algn="l" rtl="0">
              <a:spcBef>
                <a:spcPts val="0"/>
              </a:spcBef>
              <a:spcAft>
                <a:spcPts val="0"/>
              </a:spcAft>
              <a:buNone/>
            </a:pPr>
            <a:endParaRPr/>
          </a:p>
        </p:txBody>
      </p:sp>
      <p:sp>
        <p:nvSpPr>
          <p:cNvPr id="160" name="Google Shape;160;p15"/>
          <p:cNvSpPr txBox="1">
            <a:spLocks noGrp="1"/>
          </p:cNvSpPr>
          <p:nvPr>
            <p:ph type="body" idx="1"/>
          </p:nvPr>
        </p:nvSpPr>
        <p:spPr>
          <a:xfrm>
            <a:off x="815300" y="1515175"/>
            <a:ext cx="7832100" cy="2504400"/>
          </a:xfrm>
          <a:prstGeom prst="rect">
            <a:avLst/>
          </a:prstGeom>
        </p:spPr>
        <p:txBody>
          <a:bodyPr spcFirstLastPara="1" wrap="square" lIns="91425" tIns="91425" rIns="91425" bIns="91425" anchor="t" anchorCtr="0">
            <a:normAutofit/>
          </a:bodyPr>
          <a:lstStyle/>
          <a:p>
            <a:pPr marL="457200" lvl="0" indent="-330200" algn="l" rtl="0">
              <a:lnSpc>
                <a:spcPct val="150000"/>
              </a:lnSpc>
              <a:spcBef>
                <a:spcPts val="0"/>
              </a:spcBef>
              <a:spcAft>
                <a:spcPts val="0"/>
              </a:spcAft>
              <a:buSzPts val="1600"/>
              <a:buFont typeface="Georgia"/>
              <a:buChar char="●"/>
            </a:pPr>
            <a:r>
              <a:rPr lang="en" sz="1600">
                <a:latin typeface="Georgia"/>
                <a:ea typeface="Georgia"/>
                <a:cs typeface="Georgia"/>
                <a:sym typeface="Georgia"/>
              </a:rPr>
              <a:t>MS Excel/ Google Spreadsheet is used for data visualisation and for other purpose.</a:t>
            </a:r>
            <a:endParaRPr sz="1600">
              <a:latin typeface="Georgia"/>
              <a:ea typeface="Georgia"/>
              <a:cs typeface="Georgia"/>
              <a:sym typeface="Georgia"/>
            </a:endParaRPr>
          </a:p>
          <a:p>
            <a:pPr marL="457200" lvl="0" indent="-330200" algn="l" rtl="0">
              <a:lnSpc>
                <a:spcPct val="150000"/>
              </a:lnSpc>
              <a:spcBef>
                <a:spcPts val="0"/>
              </a:spcBef>
              <a:spcAft>
                <a:spcPts val="0"/>
              </a:spcAft>
              <a:buSzPts val="1600"/>
              <a:buFont typeface="Georgia"/>
              <a:buChar char="●"/>
            </a:pPr>
            <a:r>
              <a:rPr lang="en" sz="1600">
                <a:latin typeface="Georgia"/>
                <a:ea typeface="Georgia"/>
                <a:cs typeface="Georgia"/>
                <a:sym typeface="Georgia"/>
              </a:rPr>
              <a:t>3D mapping is done using Bing Maps. </a:t>
            </a:r>
            <a:endParaRPr sz="1600">
              <a:latin typeface="Georgia"/>
              <a:ea typeface="Georgia"/>
              <a:cs typeface="Georgia"/>
              <a:sym typeface="Georgia"/>
            </a:endParaRPr>
          </a:p>
          <a:p>
            <a:pPr marL="457200" lvl="0" indent="-330200" algn="l" rtl="0">
              <a:lnSpc>
                <a:spcPct val="150000"/>
              </a:lnSpc>
              <a:spcBef>
                <a:spcPts val="0"/>
              </a:spcBef>
              <a:spcAft>
                <a:spcPts val="0"/>
              </a:spcAft>
              <a:buSzPts val="1600"/>
              <a:buFont typeface="Georgia"/>
              <a:buChar char="●"/>
            </a:pPr>
            <a:r>
              <a:rPr lang="en" sz="1600">
                <a:latin typeface="Georgia"/>
                <a:ea typeface="Georgia"/>
                <a:cs typeface="Georgia"/>
                <a:sym typeface="Georgia"/>
              </a:rPr>
              <a:t>Five Datasets have  been taken into consideration here. </a:t>
            </a:r>
            <a:endParaRPr sz="1600">
              <a:latin typeface="Georgia"/>
              <a:ea typeface="Georgia"/>
              <a:cs typeface="Georgia"/>
              <a:sym typeface="Georgia"/>
            </a:endParaRPr>
          </a:p>
          <a:p>
            <a:pPr marL="457200" lvl="0" indent="-330200" algn="l" rtl="0">
              <a:lnSpc>
                <a:spcPct val="150000"/>
              </a:lnSpc>
              <a:spcBef>
                <a:spcPts val="0"/>
              </a:spcBef>
              <a:spcAft>
                <a:spcPts val="0"/>
              </a:spcAft>
              <a:buSzPts val="1600"/>
              <a:buFont typeface="Georgia"/>
              <a:buChar char="●"/>
            </a:pPr>
            <a:r>
              <a:rPr lang="en" sz="1600">
                <a:latin typeface="Georgia"/>
                <a:ea typeface="Georgia"/>
                <a:cs typeface="Georgia"/>
                <a:sym typeface="Georgia"/>
              </a:rPr>
              <a:t>Exhaustive Data Preparation and cleaning is being  done  throughout the datasets of 5 relevant excel sheets.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63636"/>
        </a:solidFill>
        <a:effectLst/>
      </p:bgPr>
    </p:bg>
    <p:spTree>
      <p:nvGrpSpPr>
        <p:cNvPr id="1" name="Shape 164"/>
        <p:cNvGrpSpPr/>
        <p:nvPr/>
      </p:nvGrpSpPr>
      <p:grpSpPr>
        <a:xfrm>
          <a:off x="0" y="0"/>
          <a:ext cx="0" cy="0"/>
          <a:chOff x="0" y="0"/>
          <a:chExt cx="0" cy="0"/>
        </a:xfrm>
      </p:grpSpPr>
      <p:pic>
        <p:nvPicPr>
          <p:cNvPr id="165" name="Google Shape;165;p16" title="Chart"/>
          <p:cNvPicPr preferRelativeResize="0"/>
          <p:nvPr/>
        </p:nvPicPr>
        <p:blipFill>
          <a:blip r:embed="rId3">
            <a:alphaModFix/>
          </a:blip>
          <a:stretch>
            <a:fillRect/>
          </a:stretch>
        </p:blipFill>
        <p:spPr>
          <a:xfrm>
            <a:off x="192900" y="160750"/>
            <a:ext cx="7295376" cy="4275525"/>
          </a:xfrm>
          <a:prstGeom prst="rect">
            <a:avLst/>
          </a:prstGeom>
          <a:noFill/>
          <a:ln>
            <a:noFill/>
          </a:ln>
        </p:spPr>
      </p:pic>
      <p:sp>
        <p:nvSpPr>
          <p:cNvPr id="166" name="Google Shape;166;p16"/>
          <p:cNvSpPr txBox="1"/>
          <p:nvPr/>
        </p:nvSpPr>
        <p:spPr>
          <a:xfrm>
            <a:off x="6868725" y="117875"/>
            <a:ext cx="221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sp>
        <p:nvSpPr>
          <p:cNvPr id="167" name="Google Shape;167;p16"/>
          <p:cNvSpPr txBox="1"/>
          <p:nvPr/>
        </p:nvSpPr>
        <p:spPr>
          <a:xfrm>
            <a:off x="7424025" y="239188"/>
            <a:ext cx="1662900" cy="47562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lt1"/>
              </a:buClr>
              <a:buSzPts val="1100"/>
              <a:buFont typeface="Georgia"/>
              <a:buChar char="●"/>
            </a:pPr>
            <a:r>
              <a:rPr lang="en" sz="1100">
                <a:solidFill>
                  <a:schemeClr val="lt1"/>
                </a:solidFill>
                <a:latin typeface="Georgia"/>
                <a:ea typeface="Georgia"/>
                <a:cs typeface="Georgia"/>
                <a:sym typeface="Georgia"/>
              </a:rPr>
              <a:t>Only nine(9) Cities have community toilets and 10 Cities have “She”  toilets.</a:t>
            </a:r>
            <a:endParaRPr sz="1100">
              <a:solidFill>
                <a:schemeClr val="lt1"/>
              </a:solidFill>
              <a:latin typeface="Georgia"/>
              <a:ea typeface="Georgia"/>
              <a:cs typeface="Georgia"/>
              <a:sym typeface="Georgia"/>
            </a:endParaRPr>
          </a:p>
          <a:p>
            <a:pPr marL="457200" lvl="0" indent="0" algn="l" rtl="0">
              <a:spcBef>
                <a:spcPts val="0"/>
              </a:spcBef>
              <a:spcAft>
                <a:spcPts val="0"/>
              </a:spcAft>
              <a:buNone/>
            </a:pPr>
            <a:endParaRPr sz="1100">
              <a:solidFill>
                <a:schemeClr val="lt1"/>
              </a:solidFill>
              <a:latin typeface="Georgia"/>
              <a:ea typeface="Georgia"/>
              <a:cs typeface="Georgia"/>
              <a:sym typeface="Georgia"/>
            </a:endParaRPr>
          </a:p>
          <a:p>
            <a:pPr marL="457200" lvl="0" indent="-298450" algn="l" rtl="0">
              <a:spcBef>
                <a:spcPts val="0"/>
              </a:spcBef>
              <a:spcAft>
                <a:spcPts val="0"/>
              </a:spcAft>
              <a:buClr>
                <a:schemeClr val="lt1"/>
              </a:buClr>
              <a:buSzPts val="1100"/>
              <a:buFont typeface="Georgia"/>
              <a:buChar char="●"/>
            </a:pPr>
            <a:r>
              <a:rPr lang="en" sz="1100">
                <a:solidFill>
                  <a:schemeClr val="lt1"/>
                </a:solidFill>
                <a:latin typeface="Georgia"/>
                <a:ea typeface="Georgia"/>
                <a:cs typeface="Georgia"/>
                <a:sym typeface="Georgia"/>
              </a:rPr>
              <a:t>Almost all cities of districts Jogulamba Gadwal, Kamareddy , Karimnagar don’t have Toilets at all.</a:t>
            </a:r>
            <a:endParaRPr sz="1100">
              <a:solidFill>
                <a:schemeClr val="lt1"/>
              </a:solidFill>
              <a:latin typeface="Georgia"/>
              <a:ea typeface="Georgia"/>
              <a:cs typeface="Georgia"/>
              <a:sym typeface="Georgia"/>
            </a:endParaRPr>
          </a:p>
          <a:p>
            <a:pPr marL="457200" lvl="0" indent="0" algn="l" rtl="0">
              <a:spcBef>
                <a:spcPts val="0"/>
              </a:spcBef>
              <a:spcAft>
                <a:spcPts val="0"/>
              </a:spcAft>
              <a:buNone/>
            </a:pPr>
            <a:endParaRPr sz="1100">
              <a:solidFill>
                <a:schemeClr val="lt1"/>
              </a:solidFill>
              <a:latin typeface="Georgia"/>
              <a:ea typeface="Georgia"/>
              <a:cs typeface="Georgia"/>
              <a:sym typeface="Georgia"/>
            </a:endParaRPr>
          </a:p>
          <a:p>
            <a:pPr marL="457200" lvl="0" indent="-298450" algn="l" rtl="0">
              <a:spcBef>
                <a:spcPts val="0"/>
              </a:spcBef>
              <a:spcAft>
                <a:spcPts val="0"/>
              </a:spcAft>
              <a:buClr>
                <a:schemeClr val="lt1"/>
              </a:buClr>
              <a:buSzPts val="1100"/>
              <a:buFont typeface="Georgia"/>
              <a:buChar char="●"/>
            </a:pPr>
            <a:r>
              <a:rPr lang="en" sz="1100">
                <a:solidFill>
                  <a:schemeClr val="lt1"/>
                </a:solidFill>
                <a:latin typeface="Georgia"/>
                <a:ea typeface="Georgia"/>
                <a:cs typeface="Georgia"/>
                <a:sym typeface="Georgia"/>
              </a:rPr>
              <a:t>One of the reason seems that the districts where there are sufficient Public Toilets,there is less consideration on installing new Community - She toilets.</a:t>
            </a:r>
            <a:endParaRPr sz="1100">
              <a:solidFill>
                <a:schemeClr val="lt1"/>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63636"/>
        </a:solidFill>
        <a:effectLst/>
      </p:bgPr>
    </p:bg>
    <p:spTree>
      <p:nvGrpSpPr>
        <p:cNvPr id="1" name="Shape 171"/>
        <p:cNvGrpSpPr/>
        <p:nvPr/>
      </p:nvGrpSpPr>
      <p:grpSpPr>
        <a:xfrm>
          <a:off x="0" y="0"/>
          <a:ext cx="0" cy="0"/>
          <a:chOff x="0" y="0"/>
          <a:chExt cx="0" cy="0"/>
        </a:xfrm>
      </p:grpSpPr>
      <p:pic>
        <p:nvPicPr>
          <p:cNvPr id="172" name="Google Shape;172;p17" title="Chart"/>
          <p:cNvPicPr preferRelativeResize="0"/>
          <p:nvPr/>
        </p:nvPicPr>
        <p:blipFill>
          <a:blip r:embed="rId3">
            <a:alphaModFix/>
          </a:blip>
          <a:stretch>
            <a:fillRect/>
          </a:stretch>
        </p:blipFill>
        <p:spPr>
          <a:xfrm>
            <a:off x="546500" y="261825"/>
            <a:ext cx="8170048" cy="3674525"/>
          </a:xfrm>
          <a:prstGeom prst="rect">
            <a:avLst/>
          </a:prstGeom>
          <a:noFill/>
          <a:ln>
            <a:noFill/>
          </a:ln>
        </p:spPr>
      </p:pic>
      <p:sp>
        <p:nvSpPr>
          <p:cNvPr id="173" name="Google Shape;173;p17"/>
          <p:cNvSpPr txBox="1"/>
          <p:nvPr/>
        </p:nvSpPr>
        <p:spPr>
          <a:xfrm>
            <a:off x="546500" y="3996625"/>
            <a:ext cx="7822500" cy="7389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Figure showing the plot of number of She toilets vs. Total Female Population in various cities. </a:t>
            </a:r>
            <a:endParaRPr sz="1200">
              <a:solidFill>
                <a:schemeClr val="lt1"/>
              </a:solidFill>
              <a:latin typeface="Georgia"/>
              <a:ea typeface="Georgia"/>
              <a:cs typeface="Georgia"/>
              <a:sym typeface="Georgia"/>
            </a:endParaRPr>
          </a:p>
          <a:p>
            <a:pPr marL="457200" lvl="0" indent="0" algn="l" rtl="0">
              <a:spcBef>
                <a:spcPts val="0"/>
              </a:spcBef>
              <a:spcAft>
                <a:spcPts val="0"/>
              </a:spcAft>
              <a:buNone/>
            </a:pPr>
            <a:endParaRPr sz="1200">
              <a:solidFill>
                <a:schemeClr val="lt1"/>
              </a:solidFill>
              <a:latin typeface="Georgia"/>
              <a:ea typeface="Georgia"/>
              <a:cs typeface="Georgia"/>
              <a:sym typeface="Georgia"/>
            </a:endParaRPr>
          </a:p>
          <a:p>
            <a:pPr marL="457200" lvl="0" indent="-304800" algn="l"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The places where female population is high is not having adequate no. of She Toilets (e.g., Districts)</a:t>
            </a:r>
            <a:endParaRPr sz="1600">
              <a:solidFill>
                <a:schemeClr val="lt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63636"/>
        </a:solidFill>
        <a:effectLst/>
      </p:bgPr>
    </p:bg>
    <p:spTree>
      <p:nvGrpSpPr>
        <p:cNvPr id="1" name="Shape 177"/>
        <p:cNvGrpSpPr/>
        <p:nvPr/>
      </p:nvGrpSpPr>
      <p:grpSpPr>
        <a:xfrm>
          <a:off x="0" y="0"/>
          <a:ext cx="0" cy="0"/>
          <a:chOff x="0" y="0"/>
          <a:chExt cx="0" cy="0"/>
        </a:xfrm>
      </p:grpSpPr>
      <p:sp>
        <p:nvSpPr>
          <p:cNvPr id="178" name="Google Shape;178;p18"/>
          <p:cNvSpPr txBox="1"/>
          <p:nvPr/>
        </p:nvSpPr>
        <p:spPr>
          <a:xfrm>
            <a:off x="7125900" y="246450"/>
            <a:ext cx="1896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sp>
        <p:nvSpPr>
          <p:cNvPr id="179" name="Google Shape;179;p18"/>
          <p:cNvSpPr txBox="1"/>
          <p:nvPr/>
        </p:nvSpPr>
        <p:spPr>
          <a:xfrm>
            <a:off x="7540100" y="381125"/>
            <a:ext cx="1438200" cy="4433100"/>
          </a:xfrm>
          <a:prstGeom prst="rect">
            <a:avLst/>
          </a:prstGeom>
          <a:noFill/>
          <a:ln>
            <a:noFill/>
          </a:ln>
        </p:spPr>
        <p:txBody>
          <a:bodyPr spcFirstLastPara="1" wrap="square" lIns="91425" tIns="91425" rIns="91425" bIns="91425" anchor="t" anchorCtr="0">
            <a:spAutoFit/>
          </a:bodyPr>
          <a:lstStyle/>
          <a:p>
            <a:pPr marL="171450" lvl="0" indent="-190500" algn="just"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Number of workers should be increased in area where total garbage generated is not completely collected. </a:t>
            </a:r>
            <a:endParaRPr sz="1200">
              <a:solidFill>
                <a:schemeClr val="lt1"/>
              </a:solidFill>
              <a:latin typeface="Georgia"/>
              <a:ea typeface="Georgia"/>
              <a:cs typeface="Georgia"/>
              <a:sym typeface="Georgia"/>
            </a:endParaRPr>
          </a:p>
          <a:p>
            <a:pPr marL="457200" lvl="0" indent="0" algn="just" rtl="0">
              <a:spcBef>
                <a:spcPts val="0"/>
              </a:spcBef>
              <a:spcAft>
                <a:spcPts val="0"/>
              </a:spcAft>
              <a:buNone/>
            </a:pPr>
            <a:endParaRPr sz="1200">
              <a:solidFill>
                <a:schemeClr val="lt1"/>
              </a:solidFill>
              <a:latin typeface="Georgia"/>
              <a:ea typeface="Georgia"/>
              <a:cs typeface="Georgia"/>
              <a:sym typeface="Georgia"/>
            </a:endParaRPr>
          </a:p>
          <a:p>
            <a:pPr marL="171450" lvl="0" indent="-190500" algn="just"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The Urban Planning department really needs to balance the no. of outsourced workers and that of regular workers since one can’t depend on regular either outsourced workers solely.</a:t>
            </a:r>
            <a:endParaRPr sz="1200">
              <a:solidFill>
                <a:schemeClr val="lt1"/>
              </a:solidFill>
              <a:latin typeface="Georgia"/>
              <a:ea typeface="Georgia"/>
              <a:cs typeface="Georgia"/>
              <a:sym typeface="Georgia"/>
            </a:endParaRPr>
          </a:p>
        </p:txBody>
      </p:sp>
      <p:pic>
        <p:nvPicPr>
          <p:cNvPr id="180" name="Google Shape;180;p18" title="Chart"/>
          <p:cNvPicPr preferRelativeResize="0"/>
          <p:nvPr/>
        </p:nvPicPr>
        <p:blipFill>
          <a:blip r:embed="rId3">
            <a:alphaModFix/>
          </a:blip>
          <a:stretch>
            <a:fillRect/>
          </a:stretch>
        </p:blipFill>
        <p:spPr>
          <a:xfrm>
            <a:off x="130975" y="161850"/>
            <a:ext cx="7409124" cy="4744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63636"/>
        </a:solidFill>
        <a:effectLst/>
      </p:bgPr>
    </p:bg>
    <p:spTree>
      <p:nvGrpSpPr>
        <p:cNvPr id="1" name="Shape 184"/>
        <p:cNvGrpSpPr/>
        <p:nvPr/>
      </p:nvGrpSpPr>
      <p:grpSpPr>
        <a:xfrm>
          <a:off x="0" y="0"/>
          <a:ext cx="0" cy="0"/>
          <a:chOff x="0" y="0"/>
          <a:chExt cx="0" cy="0"/>
        </a:xfrm>
      </p:grpSpPr>
      <p:pic>
        <p:nvPicPr>
          <p:cNvPr id="185" name="Google Shape;185;p19" title="Chart"/>
          <p:cNvPicPr preferRelativeResize="0"/>
          <p:nvPr/>
        </p:nvPicPr>
        <p:blipFill>
          <a:blip r:embed="rId3">
            <a:alphaModFix/>
          </a:blip>
          <a:stretch>
            <a:fillRect/>
          </a:stretch>
        </p:blipFill>
        <p:spPr>
          <a:xfrm>
            <a:off x="152400" y="152400"/>
            <a:ext cx="8839201" cy="3722949"/>
          </a:xfrm>
          <a:prstGeom prst="rect">
            <a:avLst/>
          </a:prstGeom>
          <a:noFill/>
          <a:ln>
            <a:noFill/>
          </a:ln>
        </p:spPr>
      </p:pic>
      <p:sp>
        <p:nvSpPr>
          <p:cNvPr id="186" name="Google Shape;186;p19"/>
          <p:cNvSpPr txBox="1"/>
          <p:nvPr/>
        </p:nvSpPr>
        <p:spPr>
          <a:xfrm>
            <a:off x="228600" y="3992250"/>
            <a:ext cx="8075100" cy="1108200"/>
          </a:xfrm>
          <a:prstGeom prst="rect">
            <a:avLst/>
          </a:prstGeom>
          <a:noFill/>
          <a:ln>
            <a:noFill/>
          </a:ln>
        </p:spPr>
        <p:txBody>
          <a:bodyPr spcFirstLastPara="1" wrap="square" lIns="91425" tIns="91425" rIns="91425" bIns="91425" anchor="t" anchorCtr="0">
            <a:spAutoFit/>
          </a:bodyPr>
          <a:lstStyle/>
          <a:p>
            <a:pPr marL="457200" lvl="0" indent="-304800" algn="just"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Figure plots the relationship between Motorised Vehicle, Non Motorised Vehicle, percentage door to door collection and Garbage not lifted per day.</a:t>
            </a:r>
            <a:endParaRPr sz="1200">
              <a:solidFill>
                <a:schemeClr val="lt1"/>
              </a:solidFill>
              <a:latin typeface="Georgia"/>
              <a:ea typeface="Georgia"/>
              <a:cs typeface="Georgia"/>
              <a:sym typeface="Georgia"/>
            </a:endParaRPr>
          </a:p>
          <a:p>
            <a:pPr marL="457200" lvl="0" indent="-304800" algn="just"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Motorised vehicles should be increased. </a:t>
            </a:r>
            <a:endParaRPr sz="1200">
              <a:solidFill>
                <a:schemeClr val="lt1"/>
              </a:solidFill>
              <a:latin typeface="Georgia"/>
              <a:ea typeface="Georgia"/>
              <a:cs typeface="Georgia"/>
              <a:sym typeface="Georgia"/>
            </a:endParaRPr>
          </a:p>
          <a:p>
            <a:pPr marL="457200" lvl="0" indent="-304800" algn="just"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In areas With door collection less than 100% number of vehicles should be increased.</a:t>
            </a:r>
            <a:endParaRPr sz="1200">
              <a:solidFill>
                <a:schemeClr val="lt1"/>
              </a:solidFill>
              <a:latin typeface="Georgia"/>
              <a:ea typeface="Georgia"/>
              <a:cs typeface="Georgia"/>
              <a:sym typeface="Georgia"/>
            </a:endParaRPr>
          </a:p>
          <a:p>
            <a:pPr marL="457200" lvl="0" indent="-304800" algn="just"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In areas where garbage in not lifted number of vehicles should be increased.</a:t>
            </a:r>
            <a:endParaRPr sz="1200">
              <a:solidFill>
                <a:schemeClr val="lt1"/>
              </a:solidFill>
              <a:latin typeface="Georgia"/>
              <a:ea typeface="Georgia"/>
              <a:cs typeface="Georgia"/>
              <a:sym typeface="Georg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0" title="Chart"/>
          <p:cNvPicPr preferRelativeResize="0"/>
          <p:nvPr/>
        </p:nvPicPr>
        <p:blipFill>
          <a:blip r:embed="rId3">
            <a:alphaModFix/>
          </a:blip>
          <a:stretch>
            <a:fillRect/>
          </a:stretch>
        </p:blipFill>
        <p:spPr>
          <a:xfrm>
            <a:off x="319088" y="120250"/>
            <a:ext cx="8505825" cy="3855250"/>
          </a:xfrm>
          <a:prstGeom prst="rect">
            <a:avLst/>
          </a:prstGeom>
          <a:noFill/>
          <a:ln>
            <a:noFill/>
          </a:ln>
        </p:spPr>
      </p:pic>
      <p:sp>
        <p:nvSpPr>
          <p:cNvPr id="192" name="Google Shape;192;p20"/>
          <p:cNvSpPr txBox="1"/>
          <p:nvPr/>
        </p:nvSpPr>
        <p:spPr>
          <a:xfrm>
            <a:off x="267550" y="4189800"/>
            <a:ext cx="8505900" cy="738900"/>
          </a:xfrm>
          <a:prstGeom prst="rect">
            <a:avLst/>
          </a:prstGeom>
          <a:noFill/>
          <a:ln>
            <a:noFill/>
          </a:ln>
        </p:spPr>
        <p:txBody>
          <a:bodyPr spcFirstLastPara="1" wrap="square" lIns="91425" tIns="91425" rIns="91425" bIns="91425" anchor="t" anchorCtr="0">
            <a:spAutoFit/>
          </a:bodyPr>
          <a:lstStyle/>
          <a:p>
            <a:pPr marL="228600" lvl="0" indent="-190500" algn="l"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From the above figure we can say that if there seems to  be a  decrease in quantity of plastic seized  when the number of meetings with hotels ,street vendors is increased.</a:t>
            </a:r>
            <a:endParaRPr sz="1200">
              <a:solidFill>
                <a:schemeClr val="lt1"/>
              </a:solidFill>
              <a:latin typeface="Georgia"/>
              <a:ea typeface="Georgia"/>
              <a:cs typeface="Georgia"/>
              <a:sym typeface="Georgia"/>
            </a:endParaRPr>
          </a:p>
          <a:p>
            <a:pPr marL="228600" lvl="0" indent="-190500" algn="l"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So, more awareness programmes in the state will definitely show good response. </a:t>
            </a:r>
            <a:endParaRPr sz="1200">
              <a:solidFill>
                <a:schemeClr val="lt1"/>
              </a:solidFill>
              <a:latin typeface="Georgia"/>
              <a:ea typeface="Georgia"/>
              <a:cs typeface="Georgia"/>
              <a:sym typeface="Georgi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21"/>
          <p:cNvPicPr preferRelativeResize="0"/>
          <p:nvPr/>
        </p:nvPicPr>
        <p:blipFill>
          <a:blip r:embed="rId3">
            <a:alphaModFix/>
          </a:blip>
          <a:stretch>
            <a:fillRect/>
          </a:stretch>
        </p:blipFill>
        <p:spPr>
          <a:xfrm>
            <a:off x="267900" y="141700"/>
            <a:ext cx="8713275" cy="4045100"/>
          </a:xfrm>
          <a:prstGeom prst="rect">
            <a:avLst/>
          </a:prstGeom>
          <a:noFill/>
          <a:ln>
            <a:noFill/>
          </a:ln>
        </p:spPr>
      </p:pic>
      <p:sp>
        <p:nvSpPr>
          <p:cNvPr id="198" name="Google Shape;198;p21"/>
          <p:cNvSpPr txBox="1"/>
          <p:nvPr/>
        </p:nvSpPr>
        <p:spPr>
          <a:xfrm>
            <a:off x="619650" y="4297725"/>
            <a:ext cx="7904700" cy="738900"/>
          </a:xfrm>
          <a:prstGeom prst="rect">
            <a:avLst/>
          </a:prstGeom>
          <a:noFill/>
          <a:ln>
            <a:noFill/>
          </a:ln>
        </p:spPr>
        <p:txBody>
          <a:bodyPr spcFirstLastPara="1" wrap="square" lIns="91425" tIns="91425" rIns="91425" bIns="91425" anchor="t" anchorCtr="0">
            <a:spAutoFit/>
          </a:bodyPr>
          <a:lstStyle/>
          <a:p>
            <a:pPr marL="285750" lvl="0" indent="-247650" algn="l"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The figure depicting use of Motorised Vehicle vs Non Motorised Vehicle w.r.t. Population Density</a:t>
            </a:r>
            <a:endParaRPr sz="1200">
              <a:solidFill>
                <a:schemeClr val="lt1"/>
              </a:solidFill>
              <a:latin typeface="Georgia"/>
              <a:ea typeface="Georgia"/>
              <a:cs typeface="Georgia"/>
              <a:sym typeface="Georgia"/>
            </a:endParaRPr>
          </a:p>
          <a:p>
            <a:pPr marL="285750" lvl="0" indent="-247650" algn="l"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It is clearly visible that Non Motorised Vehicle is excessively used which should me regulated. </a:t>
            </a:r>
            <a:endParaRPr sz="1200">
              <a:solidFill>
                <a:schemeClr val="lt1"/>
              </a:solidFill>
              <a:latin typeface="Georgia"/>
              <a:ea typeface="Georgia"/>
              <a:cs typeface="Georgia"/>
              <a:sym typeface="Georgia"/>
            </a:endParaRPr>
          </a:p>
          <a:p>
            <a:pPr marL="285750" lvl="0" indent="-247650" algn="l" rtl="0">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It is found that there is an Outlier in ULBs from Hyderabad.   </a:t>
            </a:r>
            <a:endParaRPr sz="1200">
              <a:solidFill>
                <a:schemeClr val="lt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2"/>
          <p:cNvPicPr preferRelativeResize="0"/>
          <p:nvPr/>
        </p:nvPicPr>
        <p:blipFill>
          <a:blip r:embed="rId3">
            <a:alphaModFix/>
          </a:blip>
          <a:stretch>
            <a:fillRect/>
          </a:stretch>
        </p:blipFill>
        <p:spPr>
          <a:xfrm>
            <a:off x="152400" y="152400"/>
            <a:ext cx="8440800" cy="3659175"/>
          </a:xfrm>
          <a:prstGeom prst="rect">
            <a:avLst/>
          </a:prstGeom>
          <a:noFill/>
          <a:ln>
            <a:noFill/>
          </a:ln>
        </p:spPr>
      </p:pic>
      <p:sp>
        <p:nvSpPr>
          <p:cNvPr id="204" name="Google Shape;204;p22"/>
          <p:cNvSpPr/>
          <p:nvPr/>
        </p:nvSpPr>
        <p:spPr>
          <a:xfrm>
            <a:off x="6419175" y="2908525"/>
            <a:ext cx="2137800" cy="8520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200" b="1" u="sng">
                <a:latin typeface="Georgia"/>
                <a:ea typeface="Georgia"/>
                <a:cs typeface="Georgia"/>
                <a:sym typeface="Georgia"/>
              </a:rPr>
              <a:t>Colour code:</a:t>
            </a:r>
            <a:r>
              <a:rPr lang="en" sz="1200" b="1">
                <a:latin typeface="Georgia"/>
                <a:ea typeface="Georgia"/>
                <a:cs typeface="Georgia"/>
                <a:sym typeface="Georgia"/>
              </a:rPr>
              <a:t> </a:t>
            </a:r>
            <a:endParaRPr sz="1200" b="1">
              <a:latin typeface="Georgia"/>
              <a:ea typeface="Georgia"/>
              <a:cs typeface="Georgia"/>
              <a:sym typeface="Georgia"/>
            </a:endParaRPr>
          </a:p>
          <a:p>
            <a:pPr marL="114300" marR="0" lvl="0" indent="-127000" algn="l" rtl="0">
              <a:spcBef>
                <a:spcPts val="0"/>
              </a:spcBef>
              <a:spcAft>
                <a:spcPts val="0"/>
              </a:spcAft>
              <a:buSzPts val="1100"/>
              <a:buFont typeface="Georgia"/>
              <a:buChar char="●"/>
            </a:pPr>
            <a:r>
              <a:rPr lang="en" sz="1100" b="1">
                <a:latin typeface="Georgia"/>
                <a:ea typeface="Georgia"/>
                <a:cs typeface="Georgia"/>
                <a:sym typeface="Georgia"/>
              </a:rPr>
              <a:t>Sea Green  - Toilets.</a:t>
            </a:r>
            <a:endParaRPr sz="1100" b="1">
              <a:latin typeface="Georgia"/>
              <a:ea typeface="Georgia"/>
              <a:cs typeface="Georgia"/>
              <a:sym typeface="Georgia"/>
            </a:endParaRPr>
          </a:p>
          <a:p>
            <a:pPr marL="114300" marR="0" lvl="0" indent="-127000" algn="l" rtl="0">
              <a:spcBef>
                <a:spcPts val="0"/>
              </a:spcBef>
              <a:spcAft>
                <a:spcPts val="0"/>
              </a:spcAft>
              <a:buSzPts val="1100"/>
              <a:buFont typeface="Georgia"/>
              <a:buChar char="●"/>
            </a:pPr>
            <a:r>
              <a:rPr lang="en" sz="1100" b="1">
                <a:latin typeface="Georgia"/>
                <a:ea typeface="Georgia"/>
                <a:cs typeface="Georgia"/>
                <a:sym typeface="Georgia"/>
              </a:rPr>
              <a:t>Red - Water  Stagnation.</a:t>
            </a:r>
            <a:endParaRPr sz="1100" b="1">
              <a:latin typeface="Georgia"/>
              <a:ea typeface="Georgia"/>
              <a:cs typeface="Georgia"/>
              <a:sym typeface="Georgia"/>
            </a:endParaRPr>
          </a:p>
          <a:p>
            <a:pPr marL="114300" marR="0" lvl="0" indent="-127000" algn="l" rtl="0">
              <a:spcBef>
                <a:spcPts val="0"/>
              </a:spcBef>
              <a:spcAft>
                <a:spcPts val="0"/>
              </a:spcAft>
              <a:buSzPts val="1100"/>
              <a:buFont typeface="Georgia"/>
              <a:buChar char="●"/>
            </a:pPr>
            <a:r>
              <a:rPr lang="en" sz="1100" b="1">
                <a:latin typeface="Georgia"/>
                <a:ea typeface="Georgia"/>
                <a:cs typeface="Georgia"/>
                <a:sym typeface="Georgia"/>
              </a:rPr>
              <a:t>Violet - Nalas.</a:t>
            </a:r>
            <a:endParaRPr sz="1100" b="1">
              <a:latin typeface="Georgia"/>
              <a:ea typeface="Georgia"/>
              <a:cs typeface="Georgia"/>
              <a:sym typeface="Georgia"/>
            </a:endParaRPr>
          </a:p>
        </p:txBody>
      </p:sp>
      <p:sp>
        <p:nvSpPr>
          <p:cNvPr id="205" name="Google Shape;205;p22"/>
          <p:cNvSpPr txBox="1"/>
          <p:nvPr/>
        </p:nvSpPr>
        <p:spPr>
          <a:xfrm>
            <a:off x="179850" y="3811575"/>
            <a:ext cx="8784300" cy="1185300"/>
          </a:xfrm>
          <a:prstGeom prst="rect">
            <a:avLst/>
          </a:prstGeom>
          <a:noFill/>
          <a:ln>
            <a:noFill/>
          </a:ln>
        </p:spPr>
        <p:txBody>
          <a:bodyPr spcFirstLastPara="1" wrap="square" lIns="91425" tIns="91425" rIns="91425" bIns="91425" anchor="t" anchorCtr="0">
            <a:spAutoFit/>
          </a:bodyPr>
          <a:lstStyle/>
          <a:p>
            <a:pPr marL="457200" lvl="0" indent="-311150" algn="just" rtl="0">
              <a:spcBef>
                <a:spcPts val="0"/>
              </a:spcBef>
              <a:spcAft>
                <a:spcPts val="0"/>
              </a:spcAft>
              <a:buClr>
                <a:schemeClr val="lt1"/>
              </a:buClr>
              <a:buSzPts val="1300"/>
              <a:buFont typeface="Georgia"/>
              <a:buChar char="●"/>
            </a:pPr>
            <a:r>
              <a:rPr lang="en" sz="1300">
                <a:solidFill>
                  <a:schemeClr val="lt1"/>
                </a:solidFill>
                <a:latin typeface="Georgia"/>
                <a:ea typeface="Georgia"/>
                <a:cs typeface="Georgia"/>
                <a:sym typeface="Georgia"/>
              </a:rPr>
              <a:t>The heat map plot gives the relationship between spread of Toilets, Nalas and Water Stagnation throughout the map. </a:t>
            </a:r>
            <a:endParaRPr sz="1300">
              <a:solidFill>
                <a:schemeClr val="lt1"/>
              </a:solidFill>
              <a:latin typeface="Georgia"/>
              <a:ea typeface="Georgia"/>
              <a:cs typeface="Georgia"/>
              <a:sym typeface="Georgia"/>
            </a:endParaRPr>
          </a:p>
          <a:p>
            <a:pPr marL="457200" lvl="0" indent="-311150" algn="just" rtl="0">
              <a:spcBef>
                <a:spcPts val="0"/>
              </a:spcBef>
              <a:spcAft>
                <a:spcPts val="0"/>
              </a:spcAft>
              <a:buClr>
                <a:schemeClr val="lt1"/>
              </a:buClr>
              <a:buSzPts val="1300"/>
              <a:buFont typeface="Georgia"/>
              <a:buChar char="●"/>
            </a:pPr>
            <a:r>
              <a:rPr lang="en" sz="1300">
                <a:solidFill>
                  <a:schemeClr val="lt1"/>
                </a:solidFill>
                <a:latin typeface="Georgia"/>
                <a:ea typeface="Georgia"/>
                <a:cs typeface="Georgia"/>
                <a:sym typeface="Georgia"/>
              </a:rPr>
              <a:t>From the figure we can observe that the areas which have water stagnation have low level of drainage i.e., Nalas.</a:t>
            </a:r>
            <a:endParaRPr sz="1300">
              <a:solidFill>
                <a:schemeClr val="lt1"/>
              </a:solidFill>
              <a:latin typeface="Georgia"/>
              <a:ea typeface="Georgia"/>
              <a:cs typeface="Georgia"/>
              <a:sym typeface="Georgia"/>
            </a:endParaRPr>
          </a:p>
          <a:p>
            <a:pPr marL="457200" lvl="0" indent="-311150" algn="just" rtl="0">
              <a:spcBef>
                <a:spcPts val="0"/>
              </a:spcBef>
              <a:spcAft>
                <a:spcPts val="0"/>
              </a:spcAft>
              <a:buClr>
                <a:schemeClr val="lt1"/>
              </a:buClr>
              <a:buSzPts val="1300"/>
              <a:buFont typeface="Georgia"/>
              <a:buChar char="●"/>
            </a:pPr>
            <a:r>
              <a:rPr lang="en" sz="1300">
                <a:solidFill>
                  <a:schemeClr val="lt1"/>
                </a:solidFill>
                <a:latin typeface="Georgia"/>
                <a:ea typeface="Georgia"/>
                <a:cs typeface="Georgia"/>
                <a:sym typeface="Georgia"/>
              </a:rPr>
              <a:t>Majority of toilets are placed in the vicinity of  water stagnation areas  hence we can see a lack of drainage facility and an area to improve.  </a:t>
            </a:r>
            <a:endParaRPr sz="1300">
              <a:solidFill>
                <a:schemeClr val="lt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xfrm>
            <a:off x="311700" y="123550"/>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a:latin typeface="Times New Roman"/>
                <a:ea typeface="Times New Roman"/>
                <a:cs typeface="Times New Roman"/>
                <a:sym typeface="Times New Roman"/>
              </a:rPr>
              <a:t>Recommendation/ Results/ Conclusion </a:t>
            </a:r>
            <a:endParaRPr b="1">
              <a:latin typeface="Times New Roman"/>
              <a:ea typeface="Times New Roman"/>
              <a:cs typeface="Times New Roman"/>
              <a:sym typeface="Times New Roman"/>
            </a:endParaRPr>
          </a:p>
        </p:txBody>
      </p:sp>
      <p:sp>
        <p:nvSpPr>
          <p:cNvPr id="211" name="Google Shape;211;p23"/>
          <p:cNvSpPr txBox="1"/>
          <p:nvPr/>
        </p:nvSpPr>
        <p:spPr>
          <a:xfrm>
            <a:off x="1091900" y="860950"/>
            <a:ext cx="7560300" cy="3768000"/>
          </a:xfrm>
          <a:prstGeom prst="rect">
            <a:avLst/>
          </a:prstGeom>
          <a:noFill/>
          <a:ln>
            <a:noFill/>
          </a:ln>
        </p:spPr>
        <p:txBody>
          <a:bodyPr spcFirstLastPara="1" wrap="square" lIns="91425" tIns="91425" rIns="91425" bIns="91425" anchor="t" anchorCtr="0">
            <a:spAutoFit/>
          </a:bodyPr>
          <a:lstStyle/>
          <a:p>
            <a:pPr marL="457200" lvl="0" indent="-304800" algn="just"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Almost all cities of districts Jogulamba Gadwal, Kamareddy , Karimnagar have no toilets, so there should be immediate action for making of the same.</a:t>
            </a:r>
            <a:endParaRPr sz="1200">
              <a:solidFill>
                <a:schemeClr val="lt1"/>
              </a:solidFill>
              <a:latin typeface="Georgia"/>
              <a:ea typeface="Georgia"/>
              <a:cs typeface="Georgia"/>
              <a:sym typeface="Georgia"/>
            </a:endParaRPr>
          </a:p>
          <a:p>
            <a:pPr marL="457200" lvl="0" indent="-304800" algn="just"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For women and girls, going out for toilets, can leave them vulnerable to abuse and sexual assault. Hence number of SHE Toilet is a must in the city and village as well.</a:t>
            </a:r>
            <a:endParaRPr sz="1200">
              <a:solidFill>
                <a:schemeClr val="lt1"/>
              </a:solidFill>
              <a:latin typeface="Georgia"/>
              <a:ea typeface="Georgia"/>
              <a:cs typeface="Georgia"/>
              <a:sym typeface="Georgia"/>
            </a:endParaRPr>
          </a:p>
          <a:p>
            <a:pPr marL="457200" lvl="0" indent="-304800" algn="just"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In areas With door collection less than 100% number of vehicles should be increased especially motorised for faster disposal.</a:t>
            </a:r>
            <a:endParaRPr sz="1200">
              <a:solidFill>
                <a:schemeClr val="lt1"/>
              </a:solidFill>
              <a:latin typeface="Georgia"/>
              <a:ea typeface="Georgia"/>
              <a:cs typeface="Georgia"/>
              <a:sym typeface="Georgia"/>
            </a:endParaRPr>
          </a:p>
          <a:p>
            <a:pPr marL="457200" lvl="0" indent="-304800" algn="just"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More awareness programmes in the state for use of plastic should be made because the data shows that awareness with vendors and hotels decrease the overall use of plastic.</a:t>
            </a:r>
            <a:endParaRPr sz="1200">
              <a:solidFill>
                <a:schemeClr val="lt1"/>
              </a:solidFill>
              <a:latin typeface="Georgia"/>
              <a:ea typeface="Georgia"/>
              <a:cs typeface="Georgia"/>
              <a:sym typeface="Georgia"/>
            </a:endParaRPr>
          </a:p>
          <a:p>
            <a:pPr marL="457200" lvl="0" indent="-304800" algn="l"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Increase in No. of community toilets will be one of the task which ensure healthy surrounding </a:t>
            </a:r>
            <a:endParaRPr sz="1200">
              <a:solidFill>
                <a:schemeClr val="lt1"/>
              </a:solidFill>
              <a:latin typeface="Georgia"/>
              <a:ea typeface="Georgia"/>
              <a:cs typeface="Georgia"/>
              <a:sym typeface="Georgia"/>
            </a:endParaRPr>
          </a:p>
          <a:p>
            <a:pPr marL="457200" lvl="0" indent="-304800" algn="l"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Technological improvement is required for Garbage Collection as it is mostly done by non - motorised vehicle. </a:t>
            </a:r>
            <a:endParaRPr sz="1200">
              <a:solidFill>
                <a:schemeClr val="lt1"/>
              </a:solidFill>
              <a:latin typeface="Georgia"/>
              <a:ea typeface="Georgia"/>
              <a:cs typeface="Georgia"/>
              <a:sym typeface="Georgia"/>
            </a:endParaRPr>
          </a:p>
          <a:p>
            <a:pPr marL="457200" lvl="0" indent="-304800" algn="l"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For women and girls, going out for toilets, can leave them vulnerable to abuse and sexual assault. Hence no of SHE Toilet is a must in the city and village as well. </a:t>
            </a:r>
            <a:endParaRPr sz="1200">
              <a:solidFill>
                <a:schemeClr val="lt1"/>
              </a:solidFill>
              <a:latin typeface="Georgia"/>
              <a:ea typeface="Georgia"/>
              <a:cs typeface="Georgia"/>
              <a:sym typeface="Georgia"/>
            </a:endParaRPr>
          </a:p>
          <a:p>
            <a:pPr marL="457200" lvl="0" indent="-304800" algn="l"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The government may install ATM-style water dispensers that provide clean water to the whole community.</a:t>
            </a:r>
            <a:endParaRPr sz="1200">
              <a:solidFill>
                <a:schemeClr val="lt1"/>
              </a:solidFill>
              <a:latin typeface="Georgia"/>
              <a:ea typeface="Georgia"/>
              <a:cs typeface="Georgia"/>
              <a:sym typeface="Georgia"/>
            </a:endParaRPr>
          </a:p>
          <a:p>
            <a:pPr marL="457200" lvl="0" indent="-304800" algn="l" rtl="0">
              <a:lnSpc>
                <a:spcPct val="115000"/>
              </a:lnSpc>
              <a:spcBef>
                <a:spcPts val="0"/>
              </a:spcBef>
              <a:spcAft>
                <a:spcPts val="0"/>
              </a:spcAft>
              <a:buClr>
                <a:schemeClr val="lt1"/>
              </a:buClr>
              <a:buSzPts val="1200"/>
              <a:buFont typeface="Georgia"/>
              <a:buChar char="●"/>
            </a:pPr>
            <a:r>
              <a:rPr lang="en" sz="1200">
                <a:solidFill>
                  <a:schemeClr val="lt1"/>
                </a:solidFill>
                <a:latin typeface="Georgia"/>
                <a:ea typeface="Georgia"/>
                <a:cs typeface="Georgia"/>
                <a:sym typeface="Georgia"/>
              </a:rPr>
              <a:t>Piped household water connections and household toilets with adequate sewage systems or septic tanks.</a:t>
            </a:r>
            <a:endParaRPr sz="1200">
              <a:solidFill>
                <a:srgbClr val="333333"/>
              </a:solidFill>
              <a:highlight>
                <a:srgbClr val="FFFFFF"/>
              </a:highlight>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4"/>
          <p:cNvSpPr txBox="1">
            <a:spLocks noGrp="1"/>
          </p:cNvSpPr>
          <p:nvPr>
            <p:ph type="body" idx="1"/>
          </p:nvPr>
        </p:nvSpPr>
        <p:spPr>
          <a:xfrm>
            <a:off x="3354900" y="2329550"/>
            <a:ext cx="1986000" cy="700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600">
                <a:latin typeface="Comic Sans MS"/>
                <a:ea typeface="Comic Sans MS"/>
                <a:cs typeface="Comic Sans MS"/>
                <a:sym typeface="Comic Sans MS"/>
              </a:rPr>
              <a:t>Thank You. </a:t>
            </a:r>
            <a:endParaRPr sz="2600">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767</Words>
  <Application>Microsoft Office PowerPoint</Application>
  <PresentationFormat>On-screen Show (16:9)</PresentationFormat>
  <Paragraphs>50</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Focus</vt:lpstr>
      <vt:lpstr>PowerPoint Presentation</vt:lpstr>
      <vt:lpstr>Methodology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Recommendation/ Results/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Divyanshu Gupta</cp:lastModifiedBy>
  <cp:revision>4</cp:revision>
  <dcterms:modified xsi:type="dcterms:W3CDTF">2026-10-18T17:47:53Z</dcterms:modified>
</cp:coreProperties>
</file>